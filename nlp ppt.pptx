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63" r:id="rId2"/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1062EB0-386D-120E-C24F-C7ED03020DBE}">
          <p14:sldIdLst>
            <p14:sldId id="263"/>
            <p14:sldId id="256"/>
            <p14:sldId id="257"/>
          </p14:sldIdLst>
        </p14:section>
        <p14:section name="Method" id="{EE9AC33E-F3D5-3502-6BC5-E61DB800E8D3}">
          <p14:sldIdLst>
            <p14:sldId id="258"/>
            <p14:sldId id="259"/>
            <p14:sldId id="260"/>
          </p14:sldIdLst>
        </p14:section>
        <p14:section name="Outcome" id="{D6790B3A-F8B4-B22F-CD3E-9FAE975E3CFE}">
          <p14:sldIdLst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30713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system that reads a movie review and says whether it is positive or negative.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sentiment analysis matters and list the four objectives.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tool and what it was used 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Reviews are cleaned, two models learn from them, we evaluate both on the same test set, and the fine-tuned DistilBERT powers the web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trade-off: simple and fast versus context-aware and heavier.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comparison table, then run the live Gradio demo with one positive and one negative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Summarise, mention future scope,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1097280"/>
            <a:ext cx="51206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017520"/>
            <a:ext cx="51206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marL="0" indent="0" algn="l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527F2-D295-B2CC-F131-629B9D0527A6}"/>
              </a:ext>
            </a:extLst>
          </p:cNvPr>
          <p:cNvSpPr>
            <a:spLocks noGrp="1"/>
          </p:cNvSpPr>
          <p:nvPr>
            <p:ph type="title" idx="100"/>
          </p:nvPr>
        </p:nvSpPr>
        <p:spPr>
          <a:xfrm>
            <a:off x="2286001" y="144195"/>
            <a:ext cx="4762855" cy="731520"/>
          </a:xfrm>
        </p:spPr>
        <p:txBody>
          <a:bodyPr>
            <a:noAutofit/>
          </a:bodyPr>
          <a:lstStyle/>
          <a:p>
            <a:r>
              <a:rPr lang="en-US" sz="20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JAWAHAR EDUCATION SOCIETY</a:t>
            </a:r>
            <a:br>
              <a:rPr lang="en-US" sz="20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0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A.C. PATIL COLLEGE OF ENGINEEING</a:t>
            </a:r>
            <a:br>
              <a:rPr lang="en-US" sz="20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0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DEPARTMENT OF AI&amp;DS</a:t>
            </a:r>
            <a:br>
              <a:rPr lang="en-IN" sz="2000" dirty="0">
                <a:latin typeface="Times New Roman" pitchFamily="18" charset="0"/>
                <a:cs typeface="Times New Roman" pitchFamily="18" charset="0"/>
              </a:rPr>
            </a:br>
            <a:endParaRPr lang="en-IN" sz="2000" dirty="0"/>
          </a:p>
        </p:txBody>
      </p:sp>
      <p:pic>
        <p:nvPicPr>
          <p:cNvPr id="4" name="Picture 2" descr="A. C. PATIL COLLEGE OF ENGINEERING (@acpceofficial) • Instagram photos and  videos">
            <a:extLst>
              <a:ext uri="{FF2B5EF4-FFF2-40B4-BE49-F238E27FC236}">
                <a16:creationId xmlns:a16="http://schemas.microsoft.com/office/drawing/2014/main" id="{889A2692-52C1-09B2-5958-A95FCB88CD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55409" cy="1542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08D7449-76C6-7052-1320-7385A26642D7}"/>
              </a:ext>
            </a:extLst>
          </p:cNvPr>
          <p:cNvSpPr txBox="1"/>
          <p:nvPr/>
        </p:nvSpPr>
        <p:spPr>
          <a:xfrm>
            <a:off x="2018712" y="1530436"/>
            <a:ext cx="583809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Movie Review Sentiment Analyzer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337CB5-D486-E7F6-0DB5-704470FC8C0F}"/>
              </a:ext>
            </a:extLst>
          </p:cNvPr>
          <p:cNvSpPr txBox="1"/>
          <p:nvPr/>
        </p:nvSpPr>
        <p:spPr>
          <a:xfrm>
            <a:off x="1259056" y="2906368"/>
            <a:ext cx="5030143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OF GROUP MEMBERS:-</a:t>
            </a:r>
          </a:p>
          <a:p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Rohan Ramchandra Chorge(10)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Yash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Dhondu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Gawade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(13)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3.Vedant Vikas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Kharade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(24)</a:t>
            </a:r>
          </a:p>
        </p:txBody>
      </p:sp>
    </p:spTree>
    <p:extLst>
      <p:ext uri="{BB962C8B-B14F-4D97-AF65-F5344CB8AC3E}">
        <p14:creationId xmlns:p14="http://schemas.microsoft.com/office/powerpoint/2010/main" val="30471169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109728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Movie Review Sentiment Analyzer</a:t>
            </a:r>
            <a:endParaRPr lang="en-US" sz="40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01752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bg2"/>
                </a:solidFill>
              </a:rPr>
              <a:t>NLP Mini Project  |  Semester VII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chemeClr val="bg2"/>
                </a:solidFill>
              </a:rPr>
              <a:t>[Student name(s)]  |  Guide: [Teacher name]</a:t>
            </a:r>
            <a:endParaRPr lang="en-US" sz="1600" dirty="0"/>
          </a:p>
        </p:txBody>
      </p:sp>
      <p:sp>
        <p:nvSpPr>
          <p:cNvPr id="4" name="Example positive"/>
          <p:cNvSpPr txBox="1"/>
          <p:nvPr/>
        </p:nvSpPr>
        <p:spPr>
          <a:xfrm>
            <a:off x="5852160" y="1371600"/>
            <a:ext cx="2743200" cy="8229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"good movie"  →  Positive</a:t>
            </a:r>
            <a:endParaRPr lang="en-US" sz="1400" dirty="0"/>
          </a:p>
        </p:txBody>
      </p:sp>
      <p:sp>
        <p:nvSpPr>
          <p:cNvPr id="5" name="Example negative"/>
          <p:cNvSpPr txBox="1"/>
          <p:nvPr/>
        </p:nvSpPr>
        <p:spPr>
          <a:xfrm>
            <a:off x="5852160" y="2468880"/>
            <a:ext cx="2743200" cy="8229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"boring plot"  →  Negative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852160" y="3474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2"/>
                </a:solidFill>
              </a:rPr>
              <a:t>Example predictions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Problem and objectives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The problem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Thousands of reviews cannot be read by hand, and keyword methods miss context such as "not good".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175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Our approach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42900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Compare a classic ML model with a fine-tuned transformer, then serve the best one in a web app.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93776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Objectives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8288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577840" y="17373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Clean and prepare the IMDB reviews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25603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577840" y="24688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Build a TF-IDF + Logistic Regression baseline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32918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577840" y="32004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Fine-tune the DistilBERT transformer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937760" y="40233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577840" y="39319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Compare both, then deploy with Gradio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Tools and technologies</a:t>
            </a:r>
            <a:endParaRPr lang="en-US" sz="3600" dirty="0"/>
          </a:p>
        </p:txBody>
      </p:sp>
      <p:sp>
        <p:nvSpPr>
          <p:cNvPr id="3" name="Card Colab"/>
          <p:cNvSpPr/>
          <p:nvPr/>
        </p:nvSpPr>
        <p:spPr>
          <a:xfrm>
            <a:off x="548640" y="1325880"/>
            <a:ext cx="246888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508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Colab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116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Free T4 GPU to train the model</a:t>
            </a:r>
            <a:endParaRPr lang="en-US" sz="1400" dirty="0"/>
          </a:p>
        </p:txBody>
      </p:sp>
      <p:sp>
        <p:nvSpPr>
          <p:cNvPr id="7" name="Card Hugging Face"/>
          <p:cNvSpPr/>
          <p:nvPr/>
        </p:nvSpPr>
        <p:spPr>
          <a:xfrm>
            <a:off x="3337560" y="1325880"/>
            <a:ext cx="246888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150876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023360" y="1508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Hugging Face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20116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IMDB dataset, DistilBERT and Trainer</a:t>
            </a:r>
            <a:endParaRPr lang="en-US" sz="1400" dirty="0"/>
          </a:p>
        </p:txBody>
      </p:sp>
      <p:sp>
        <p:nvSpPr>
          <p:cNvPr id="11" name="Card scikit-learn"/>
          <p:cNvSpPr/>
          <p:nvPr/>
        </p:nvSpPr>
        <p:spPr>
          <a:xfrm>
            <a:off x="6126480" y="1325880"/>
            <a:ext cx="246888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09360" y="150876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812280" y="1508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scikit-learn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20116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TF-IDF, Logistic Regression, metrics</a:t>
            </a:r>
            <a:endParaRPr lang="en-US" sz="1400" dirty="0"/>
          </a:p>
        </p:txBody>
      </p:sp>
      <p:sp>
        <p:nvSpPr>
          <p:cNvPr id="15" name="Card PyTorch"/>
          <p:cNvSpPr/>
          <p:nvPr/>
        </p:nvSpPr>
        <p:spPr>
          <a:xfrm>
            <a:off x="548640" y="3017520"/>
            <a:ext cx="246888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20040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200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PyTorch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7033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Deep-learning engine behind DistilBERT</a:t>
            </a:r>
            <a:endParaRPr lang="en-US" sz="1400" dirty="0"/>
          </a:p>
        </p:txBody>
      </p:sp>
      <p:sp>
        <p:nvSpPr>
          <p:cNvPr id="19" name="Card Pandas + Plots"/>
          <p:cNvSpPr/>
          <p:nvPr/>
        </p:nvSpPr>
        <p:spPr>
          <a:xfrm>
            <a:off x="3337560" y="3017520"/>
            <a:ext cx="246888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520440" y="320040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023360" y="3200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Pandas + Plots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3520440" y="37033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Results table and confusion matrices</a:t>
            </a:r>
            <a:endParaRPr lang="en-US" sz="1400" dirty="0"/>
          </a:p>
        </p:txBody>
      </p:sp>
      <p:sp>
        <p:nvSpPr>
          <p:cNvPr id="23" name="Card Gradio"/>
          <p:cNvSpPr/>
          <p:nvPr/>
        </p:nvSpPr>
        <p:spPr>
          <a:xfrm>
            <a:off x="6126480" y="3017520"/>
            <a:ext cx="246888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09360" y="320040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6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812280" y="3200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Gradio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309360" y="37033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Web page to test any review</a:t>
            </a:r>
            <a:endParaRPr lang="en-US" sz="14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How the system works</a:t>
            </a:r>
            <a:endParaRPr lang="en-US" sz="3600" dirty="0"/>
          </a:p>
        </p:txBody>
      </p:sp>
      <p:sp>
        <p:nvSpPr>
          <p:cNvPr id="3" name="Step IMDB reviews"/>
          <p:cNvSpPr txBox="1"/>
          <p:nvPr/>
        </p:nvSpPr>
        <p:spPr>
          <a:xfrm>
            <a:off x="548640" y="2240280"/>
            <a:ext cx="128016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IMDB reviews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5,000 subset</a:t>
            </a:r>
            <a:endParaRPr lang="en-US" sz="1400" dirty="0"/>
          </a:p>
        </p:txBody>
      </p:sp>
      <p:sp>
        <p:nvSpPr>
          <p:cNvPr id="4" name="Step Preprocess"/>
          <p:cNvSpPr txBox="1"/>
          <p:nvPr/>
        </p:nvSpPr>
        <p:spPr>
          <a:xfrm>
            <a:off x="2148840" y="2240280"/>
            <a:ext cx="128016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Preprocess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clean, tokenise</a:t>
            </a:r>
            <a:endParaRPr lang="en-US" sz="1400" dirty="0"/>
          </a:p>
        </p:txBody>
      </p:sp>
      <p:sp>
        <p:nvSpPr>
          <p:cNvPr id="5" name="Step TF-IDF + LogReg"/>
          <p:cNvSpPr txBox="1"/>
          <p:nvPr/>
        </p:nvSpPr>
        <p:spPr>
          <a:xfrm>
            <a:off x="3749040" y="1600200"/>
            <a:ext cx="164592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TF-IDF + LogReg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baseline</a:t>
            </a:r>
            <a:endParaRPr lang="en-US" sz="1400" dirty="0"/>
          </a:p>
        </p:txBody>
      </p:sp>
      <p:sp>
        <p:nvSpPr>
          <p:cNvPr id="6" name="Step DistilBERT"/>
          <p:cNvSpPr txBox="1"/>
          <p:nvPr/>
        </p:nvSpPr>
        <p:spPr>
          <a:xfrm>
            <a:off x="3749040" y="2880360"/>
            <a:ext cx="1645920" cy="1005840"/>
          </a:xfrm>
          <a:prstGeom prst="roundRect">
            <a:avLst>
              <a:gd name="adj" fmla="val 10909"/>
            </a:avLst>
          </a:prstGeom>
          <a:solidFill>
            <a:schemeClr val="accent1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DistilBERT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fine-tuned</a:t>
            </a:r>
            <a:endParaRPr lang="en-US" sz="1400" dirty="0"/>
          </a:p>
        </p:txBody>
      </p:sp>
      <p:sp>
        <p:nvSpPr>
          <p:cNvPr id="7" name="Step Evaluate"/>
          <p:cNvSpPr txBox="1"/>
          <p:nvPr/>
        </p:nvSpPr>
        <p:spPr>
          <a:xfrm>
            <a:off x="5715000" y="2240280"/>
            <a:ext cx="128016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Evaluate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accuracy, F1</a:t>
            </a:r>
            <a:endParaRPr lang="en-US" sz="1400" dirty="0"/>
          </a:p>
        </p:txBody>
      </p:sp>
      <p:sp>
        <p:nvSpPr>
          <p:cNvPr id="8" name="Step Gradio app"/>
          <p:cNvSpPr txBox="1"/>
          <p:nvPr/>
        </p:nvSpPr>
        <p:spPr>
          <a:xfrm>
            <a:off x="7315200" y="2240280"/>
            <a:ext cx="1280160" cy="1005840"/>
          </a:xfrm>
          <a:prstGeom prst="roundRect">
            <a:avLst>
              <a:gd name="adj" fmla="val 10909"/>
            </a:avLst>
          </a:prstGeom>
          <a:solidFill>
            <a:schemeClr val="accent3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Gradio app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live demo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28800" y="2743200"/>
            <a:ext cx="32004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 flipV="1">
            <a:off x="3429000" y="2103120"/>
            <a:ext cx="320040" cy="64008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429000" y="2743200"/>
            <a:ext cx="320040" cy="64008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394960" y="2103120"/>
            <a:ext cx="320040" cy="64008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 flipV="1">
            <a:off x="5394960" y="2743200"/>
            <a:ext cx="320040" cy="64008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995160" y="2743200"/>
            <a:ext cx="32004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Both models see the same test reviews, so the comparison is fair.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Classical vs transformer</a:t>
            </a:r>
            <a:endParaRPr lang="en-US" sz="3600" dirty="0"/>
          </a:p>
        </p:txBody>
      </p:sp>
      <p:sp>
        <p:nvSpPr>
          <p:cNvPr id="3" name="Card baseline"/>
          <p:cNvSpPr/>
          <p:nvPr/>
        </p:nvSpPr>
        <p:spPr>
          <a:xfrm>
            <a:off x="548640" y="1325880"/>
            <a:ext cx="393192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087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TF-IDF + Logistic Regression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0312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Counts word importance, ignores word order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Trains in seconds and is easy to explain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Misses context such as "not good"</a:t>
            </a:r>
            <a:endParaRPr lang="en-US" sz="1400" dirty="0"/>
          </a:p>
        </p:txBody>
      </p:sp>
      <p:sp>
        <p:nvSpPr>
          <p:cNvPr id="6" name="Card DistilBERT"/>
          <p:cNvSpPr/>
          <p:nvPr/>
        </p:nvSpPr>
        <p:spPr>
          <a:xfrm>
            <a:off x="4663440" y="1325880"/>
            <a:ext cx="3931920" cy="301752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5087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DistilBERT (fine-tuned)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210312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Reads every word in its context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Pretrained, then fine-tuned on reviews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Needs a GPU and takes longer to train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Results and live demo</a:t>
            </a:r>
            <a:endParaRPr lang="en-US" sz="3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2118179"/>
              </p:ext>
            </p:extLst>
          </p:nvPr>
        </p:nvGraphicFramePr>
        <p:xfrm>
          <a:off x="548640" y="1325880"/>
          <a:ext cx="4023360" cy="13716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Model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Accuracy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F1 score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TF-IDF + LogReg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0.843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0.842843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DistilBERT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0.832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0.828571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Confusion matrix slot"/>
          <p:cNvSpPr txBox="1"/>
          <p:nvPr/>
        </p:nvSpPr>
        <p:spPr>
          <a:xfrm>
            <a:off x="548640" y="2971800"/>
            <a:ext cx="4023360" cy="1417320"/>
          </a:xfrm>
          <a:prstGeom prst="rect">
            <a:avLst/>
          </a:prstGeom>
          <a:noFill/>
          <a:ln w="19050">
            <a:solidFill>
              <a:schemeClr val="accent5"/>
            </a:solidFill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5"/>
                </a:solidFill>
              </a:rPr>
              <a:t>Confusion matrices</a:t>
            </a:r>
            <a:endParaRPr lang="en-US" sz="1400" dirty="0"/>
          </a:p>
        </p:txBody>
      </p:sp>
      <p:sp>
        <p:nvSpPr>
          <p:cNvPr id="5" name="Demo screenshot slot"/>
          <p:cNvSpPr txBox="1"/>
          <p:nvPr/>
        </p:nvSpPr>
        <p:spPr>
          <a:xfrm>
            <a:off x="4937760" y="1325880"/>
            <a:ext cx="3657600" cy="3063240"/>
          </a:xfrm>
          <a:prstGeom prst="rect">
            <a:avLst/>
          </a:prstGeom>
          <a:noFill/>
          <a:ln w="19050">
            <a:solidFill>
              <a:schemeClr val="accent5"/>
            </a:solidFill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5"/>
                </a:solidFill>
              </a:rPr>
              <a:t>Gradio demo screenshot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1B701A-C48F-4642-C1B3-BDD8C768FB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268" y="2897945"/>
            <a:ext cx="4192172" cy="17865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08F3C13-E4F6-E431-E8C7-FCF78AC3C1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8523" y="1167619"/>
            <a:ext cx="3784209" cy="347120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Conclusion and future scope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What we showed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3840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Both models label IMDB reviews as positive or negative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DistilBERT reads context; TF-IDF only counts words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The Gradio app returns a label and a confidence score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846320" y="13258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Next steps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846320" y="1828800"/>
            <a:ext cx="3749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Train on all 25,000 reviews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Add Hindi, Marathi and Hinglish reviews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Explain predictions with LIME or SHAP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Host the app on Hugging Face Spaces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023360"/>
            <a:ext cx="2651760" cy="502920"/>
          </a:xfrm>
          <a:prstGeom prst="roundRect">
            <a:avLst>
              <a:gd name="adj" fmla="val 49091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Thank you  |  Questions?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ntiment Plum">
  <a:themeElements>
    <a:clrScheme name="Sentiment Plum">
      <a:dk1>
        <a:srgbClr val="1B1530"/>
      </a:dk1>
      <a:lt1>
        <a:srgbClr val="FFFFFF"/>
      </a:lt1>
      <a:dk2>
        <a:srgbClr val="2A1A4F"/>
      </a:dk2>
      <a:lt2>
        <a:srgbClr val="F3F0FA"/>
      </a:lt2>
      <a:accent1>
        <a:srgbClr val="14B8A6"/>
      </a:accent1>
      <a:accent2>
        <a:srgbClr val="F26B5B"/>
      </a:accent2>
      <a:accent3>
        <a:srgbClr val="7C5CFF"/>
      </a:accent3>
      <a:accent4>
        <a:srgbClr val="F4B942"/>
      </a:accent4>
      <a:accent5>
        <a:srgbClr val="5B6B8C"/>
      </a:accent5>
      <a:accent6>
        <a:srgbClr val="9AA5B8"/>
      </a:accent6>
      <a:hlink>
        <a:srgbClr val="14B8A6"/>
      </a:hlink>
      <a:folHlink>
        <a:srgbClr val="7C5CFF"/>
      </a:folHlink>
    </a:clrScheme>
    <a:fontScheme name="Sentiment Plum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524</Words>
  <Application>Microsoft Office PowerPoint</Application>
  <PresentationFormat>On-screen Show (16:9)</PresentationFormat>
  <Paragraphs>112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Times New Roman</vt:lpstr>
      <vt:lpstr>Sentiment Plum</vt:lpstr>
      <vt:lpstr>    JAWAHAR EDUCATION SOCIETY A.C. PATIL COLLEGE OF ENGINEEING        DEPARTMENT OF AI&amp;DS </vt:lpstr>
      <vt:lpstr>Movie Review Sentiment Analyzer</vt:lpstr>
      <vt:lpstr>Problem and objectives</vt:lpstr>
      <vt:lpstr>Tools and technologies</vt:lpstr>
      <vt:lpstr>How the system works</vt:lpstr>
      <vt:lpstr>Classical vs transformer</vt:lpstr>
      <vt:lpstr>Results and live demo</vt:lpstr>
      <vt:lpstr>Conclusion and future scope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Movie Review Sentiment Analyzer</dc:title>
  <dc:subject>PptxGenJS Presentation</dc:subject>
  <dc:creator>PptxGenJS</dc:creator>
  <cp:lastModifiedBy>rohanchorge979@gmail.com</cp:lastModifiedBy>
  <cp:revision>3</cp:revision>
  <dcterms:created xsi:type="dcterms:W3CDTF">2026-10-26T06:24:40Z</dcterms:created>
  <dcterms:modified xsi:type="dcterms:W3CDTF">2026-10-26T07:07:02Z</dcterms:modified>
</cp:coreProperties>
</file>